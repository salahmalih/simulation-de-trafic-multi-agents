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oine Rhatti" userId="2a9833d23ee62424" providerId="LiveId" clId="{C257CED7-E5DF-40D9-B87B-AB9ECD46FCDC}"/>
    <pc:docChg chg="modSld">
      <pc:chgData name="Maroine Rhatti" userId="2a9833d23ee62424" providerId="LiveId" clId="{C257CED7-E5DF-40D9-B87B-AB9ECD46FCDC}" dt="2026-04-12T17:59:24.561" v="10" actId="14100"/>
      <pc:docMkLst>
        <pc:docMk/>
      </pc:docMkLst>
      <pc:sldChg chg="modSp mod">
        <pc:chgData name="Maroine Rhatti" userId="2a9833d23ee62424" providerId="LiveId" clId="{C257CED7-E5DF-40D9-B87B-AB9ECD46FCDC}" dt="2026-04-12T17:59:24.561" v="10" actId="14100"/>
        <pc:sldMkLst>
          <pc:docMk/>
          <pc:sldMk cId="0" sldId="260"/>
        </pc:sldMkLst>
        <pc:spChg chg="mod">
          <ac:chgData name="Maroine Rhatti" userId="2a9833d23ee62424" providerId="LiveId" clId="{C257CED7-E5DF-40D9-B87B-AB9ECD46FCDC}" dt="2026-04-12T17:58:23.843" v="1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roine Rhatti" userId="2a9833d23ee62424" providerId="LiveId" clId="{C257CED7-E5DF-40D9-B87B-AB9ECD46FCDC}" dt="2026-04-12T17:59:10.797" v="9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Maroine Rhatti" userId="2a9833d23ee62424" providerId="LiveId" clId="{C257CED7-E5DF-40D9-B87B-AB9ECD46FCDC}" dt="2026-04-12T17:59:24.561" v="10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aroine Rhatti" userId="2a9833d23ee62424" providerId="LiveId" clId="{C257CED7-E5DF-40D9-B87B-AB9ECD46FCDC}" dt="2026-04-12T17:59:01.060" v="8" actId="14100"/>
          <ac:spMkLst>
            <pc:docMk/>
            <pc:sldMk cId="0" sldId="260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88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217920" y="274320"/>
            <a:ext cx="4114800" cy="4114800"/>
          </a:xfrm>
          <a:prstGeom prst="ellipse">
            <a:avLst/>
          </a:prstGeom>
          <a:solidFill>
            <a:srgbClr val="112233">
              <a:alpha val="70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766560" y="822960"/>
            <a:ext cx="3017520" cy="3017520"/>
          </a:xfrm>
          <a:prstGeom prst="ellipse">
            <a:avLst/>
          </a:prstGeom>
          <a:solidFill>
            <a:srgbClr val="00C6AE">
              <a:alpha val="1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137160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132320" y="1828800"/>
            <a:ext cx="137160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406640" y="1828800"/>
            <a:ext cx="137160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137160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6AE"/>
                </a:solidFill>
              </a:rPr>
              <a:t>SYSTÈMES MULTI-AGENTS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Simulation de Trafic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Urbain Intelligent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8"/>
                </a:solidFill>
              </a:rPr>
              <a:t>Un carrefour multi-agents avec feux adaptatifs,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B0C4D8"/>
                </a:solidFill>
              </a:rPr>
              <a:t>collisions, statistiques et export 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</a:rPr>
              <a:t>NetLogo  ·  2025  ·  Projet de simulation MAS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48056" y="877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152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Contexte &amp; Objectifs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" y="13533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Pourquoi simuler le trafic 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48056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" y="1993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 MAS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" y="21945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Agents, types et rôles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523744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8056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Environnement &amp; Routes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" y="30358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Carrefour, voies et patches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64992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364992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48056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" y="3675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Feux de signalisation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" y="38770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Cycle vert / jaune / rouge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48056" y="4242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" y="4517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Comportement des voitures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" y="47183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IA, décisions, techniques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841248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54880" y="841248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82896" y="877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82896" y="1152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Vitesse &amp; Suivi de voie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82896" y="13533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adjust-speed-smart, détection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682496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54880" y="1682496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82896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82896" y="1993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Collisions &amp; Sécurité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82896" y="21945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Crashs, incendies, respawn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523744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54880" y="2523744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82896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82896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Métriques &amp; Export CSV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82896" y="30358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Plots, reporters, données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364992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754880" y="3364992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882896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82896" y="3675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Paramètres &amp; Scénarios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82896" y="38770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Sliders, globals, expériences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206240"/>
            <a:ext cx="416052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754880" y="4206240"/>
            <a:ext cx="64008" cy="7132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882896" y="4242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82896" y="4517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Résultats &amp; Conclusion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82896" y="47183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Apports MAS, perspectives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37490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64008" cy="374904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</a:rPr>
              <a:t>Problématique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8"/>
                </a:solidFill>
              </a:rPr>
              <a:t>Le trafic urbain est un système complexe émergent : des décisions individuelles produisent des comportements globaux imprévisibles.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B0C4D8"/>
                </a:solidFill>
              </a:rPr>
              <a:t>Questions centrales :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</a:rPr>
              <a:t>Comment fluidifier le trafic aux intersections ?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</a:rPr>
              <a:t>Comment minimiser les risques de collision ?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</a:rPr>
              <a:t>Quel impact ont les feux sur les embouteillages ?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</a:rPr>
              <a:t>Comment mesurer et exporter ces indicateurs 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374904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64008" cy="3749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64608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Objectifs du projet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64608" y="1298448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20640" y="12710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Carrefour à 4 entrées avec voies dédiées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64608" y="1792224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0" y="17647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Agents-voitures autonomes avec IA embarquée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64608" y="228600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0" y="22585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Feux synchronisés axes H et 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64608" y="2779776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20640" y="27523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Détection et visualisation des collisions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64608" y="327355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Collecte de métriques en temps réel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3767328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0" y="37398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Export CSV pour analyse externe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1B2A3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6AE"/>
                </a:solidFill>
              </a:rPr>
              <a:t>Outil : NetLogo  —  Paradigme : Programmation orientée agents  —  Environnement : Patches (grille 2D discrète)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Architecture Multi-Agents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57400" cy="4069080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057400" cy="502920"/>
          </a:xfrm>
          <a:prstGeom prst="rect">
            <a:avLst/>
          </a:prstGeom>
          <a:solidFill>
            <a:srgbClr val="00C6AE">
              <a:alpha val="7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breed [cars]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AE"/>
                </a:solidFill>
              </a:rPr>
              <a:t>Voitures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N agents (slider)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speed / max-speed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safety-distance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car-ahead (ref agent)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724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wait-time / crashed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caution-level (0-3)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456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reaction-delay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8221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stuck-timer / turning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1879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braking / near-intersection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3160" y="804672"/>
            <a:ext cx="2057400" cy="406908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423160" y="804672"/>
            <a:ext cx="2057400" cy="502920"/>
          </a:xfrm>
          <a:prstGeom prst="rect">
            <a:avLst/>
          </a:prstGeom>
          <a:solidFill>
            <a:srgbClr val="2EC278">
              <a:alpha val="75000"/>
            </a:srgbClr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514600" y="822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breed [lights]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0058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278"/>
                </a:solidFill>
              </a:rPr>
              <a:t>Feux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13533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4 agents fixes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state: red/yellow/green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14600" y="1993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timer-count (décompte)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axis: H ou 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14600" y="2724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intersection-x / 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804672"/>
            <a:ext cx="2057400" cy="4069080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17720" y="804672"/>
            <a:ext cx="2057400" cy="502920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09160" y="822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breed [fires]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10058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Incendies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13533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sprout dynamique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fire-age (0→150)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1993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Taille variable aléatoire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Couleur: orange/red/yellow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2724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Meurt à fire-age &gt; 150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804672"/>
            <a:ext cx="2057400" cy="406908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812280" y="804672"/>
            <a:ext cx="2057400" cy="502920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903720" y="822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breed [timerlabels]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03720" y="10058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Labels Timer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13533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4 agents liés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03720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my-light (référence feu)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03720" y="1993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label = timer-count du feu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label-color = couleur feu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4956048"/>
            <a:ext cx="8686800" cy="36576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20040" y="48463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globals  ·  road-color   lane-color   sidewalk-color   green-duration (60)   yellow-duration (10)   red-duration (60)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Environnement &amp; Routes (Patches NetLogo)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595275"/>
            <a:ext cx="4760366" cy="4548225"/>
          </a:xfrm>
          <a:prstGeom prst="rect">
            <a:avLst/>
          </a:prstGeom>
          <a:solidFill>
            <a:srgbClr val="4A7A4A"/>
          </a:solidFill>
          <a:ln w="12700">
            <a:solidFill>
              <a:srgbClr val="4A7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4864608" cy="13898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49348" y="571042"/>
            <a:ext cx="1377086" cy="456559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0" y="2697480"/>
            <a:ext cx="1389888" cy="13898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3374136"/>
            <a:ext cx="173736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950208" y="3374136"/>
            <a:ext cx="173736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72662" y="595274"/>
            <a:ext cx="45719" cy="180045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36975" y="4087368"/>
            <a:ext cx="53036" cy="10561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282342" y="2836469"/>
            <a:ext cx="208483" cy="19111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019702" y="2836469"/>
            <a:ext cx="208483" cy="19111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699309" y="2419502"/>
            <a:ext cx="191110" cy="20848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699309" y="4156862"/>
            <a:ext cx="191110" cy="20848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282342" y="3183941"/>
            <a:ext cx="208483" cy="19111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019702" y="3183941"/>
            <a:ext cx="208483" cy="19111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046781" y="2419502"/>
            <a:ext cx="191110" cy="20848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046781" y="4156862"/>
            <a:ext cx="191110" cy="20848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2342" y="3531413"/>
            <a:ext cx="208483" cy="19111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019702" y="3531413"/>
            <a:ext cx="208483" cy="19111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394253" y="2419502"/>
            <a:ext cx="191110" cy="20848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394253" y="4156862"/>
            <a:ext cx="191110" cy="20848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22960" y="2697480"/>
            <a:ext cx="1737360" cy="312725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950208" y="3774643"/>
            <a:ext cx="1737360" cy="312725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68680" y="2697480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19702" y="3496666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29814" y="4261104"/>
            <a:ext cx="555955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↑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24758" y="1005840"/>
            <a:ext cx="555955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879592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</a:rPr>
              <a:t>Carrefour NetLogo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051560"/>
            <a:ext cx="274320" cy="2743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3550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Route asphalt  (pycor ∈ [-3,3] OU pxcor ∈ [-3,3])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1673352"/>
            <a:ext cx="274320" cy="274320"/>
          </a:xfrm>
          <a:prstGeom prst="rect">
            <a:avLst/>
          </a:prstGeom>
          <a:solidFill>
            <a:srgbClr val="4A7A4A"/>
          </a:solidFill>
          <a:ln w="12700">
            <a:solidFill>
              <a:srgbClr val="4A7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35508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Trottoir  (sidewalk-color = 55)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2295144"/>
            <a:ext cx="274320" cy="2743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355080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Ligne médiane jaune (lane-color)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89320" y="2916936"/>
            <a:ext cx="274320" cy="2743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35508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Passage piéton (dashes blancs)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9320" y="3538728"/>
            <a:ext cx="274320" cy="27432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35508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Voie active : py = ±2 OU px = ±2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60720" y="4251960"/>
            <a:ext cx="32461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870448" y="4325112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to-report lane-patch? [p]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px [pxcor] of 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py [pycor] of 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 (py=2 or py=-2 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px=2 or px=-2)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Feux de Signalisation – Synchronisation H/V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51560" y="868680"/>
            <a:ext cx="1554480" cy="1554480"/>
          </a:xfrm>
          <a:prstGeom prst="ellipse">
            <a:avLst/>
          </a:prstGeom>
          <a:solidFill>
            <a:srgbClr val="2EC278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60 ticks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Axe H circule librement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6AE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F5C518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JAUNE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ticks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Ralentissement progressif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6AE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868680"/>
            <a:ext cx="1554480" cy="155448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ROUGE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60 ticks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Axe H stoppé → V actif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645920"/>
            <a:ext cx="0" cy="1188720"/>
          </a:xfrm>
          <a:prstGeom prst="line">
            <a:avLst/>
          </a:prstGeom>
          <a:noFill/>
          <a:ln w="254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7772400" cy="0"/>
          </a:xfrm>
          <a:prstGeom prst="line">
            <a:avLst/>
          </a:prstGeom>
          <a:noFill/>
          <a:ln w="254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1645920"/>
            <a:ext cx="0" cy="1188720"/>
          </a:xfrm>
          <a:prstGeom prst="line">
            <a:avLst/>
          </a:prstGeom>
          <a:noFill/>
          <a:ln w="254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512064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64008" cy="1691640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278"/>
                </a:solidFill>
              </a:rPr>
              <a:t>Positions &amp; Synchronisation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AE"/>
                </a:solidFill>
              </a:rPr>
              <a:t>Axe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9164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AE"/>
                </a:solidFill>
              </a:rPr>
              <a:t>Position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AE"/>
                </a:solidFill>
              </a:rPr>
              <a:t>État init.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6052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AE"/>
                </a:solidFill>
              </a:rPr>
              <a:t>Lors du changement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 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91640" y="38404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(-4, 4) et (4, -4)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38404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60520" y="38404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passe au VERT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18795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 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91640" y="418795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4) et (-4, -4)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26080" y="418795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60520" y="418795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 H = ROUGE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3154680"/>
            <a:ext cx="342900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687568" y="3227832"/>
            <a:ext cx="32461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[state] of h-rep = "red"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ask v-lights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state "green"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color green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timer-count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green-duration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Pipeline de Décision IA – make-intelligent-decision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1261872"/>
          </a:xfrm>
          <a:prstGeom prst="rect">
            <a:avLst/>
          </a:prstGeom>
          <a:solidFill>
            <a:srgbClr val="16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2618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84048" y="877824"/>
            <a:ext cx="347472" cy="34747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4048" y="877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8778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reaction-delay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1521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Délai cognitif aléatoire (0-2 ticks) avant toute action. Simule le temps de réaction humain.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609344"/>
            <a:ext cx="405079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16276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reaction-delay &gt; 0 and speed &lt; 0.3 [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reaction-delay reaction-delay - 1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 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51960" cy="126187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64008" cy="126187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84048" y="2295144"/>
            <a:ext cx="347472" cy="347472"/>
          </a:xfrm>
          <a:prstGeom prst="ellipse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295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apply-defensive-braking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5694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Calcul de la distance requise selon la vitesse relative. Freinage proportionnel au danger.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026664"/>
            <a:ext cx="405079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38912" y="3044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relative-speed speed - [speed] of car-ahead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required-gap safety-distance +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 list 0 (relative-speed * 2.5)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251960" cy="1261872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64008" cy="1261872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84048" y="3712464"/>
            <a:ext cx="347472" cy="347472"/>
          </a:xfrm>
          <a:prstGeom prst="ellipse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4048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712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should-stop-for-light?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98678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Détection des feux en cône de vision (look-ahead = 3 + speed×2, angle 90°).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4443984"/>
            <a:ext cx="405079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38912" y="4462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candidates lights in-cone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look-ahead 90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light-state = "red" and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 &lt; 2.0 [ report true 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804672"/>
            <a:ext cx="4251960" cy="1261872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846320" y="804672"/>
            <a:ext cx="64008" cy="12618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956048" y="877824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56048" y="877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8778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cross-traffic-danger?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11521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Détecte les voitures croisées (angle 60°-300°) à moins de 2.5 unités.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56048" y="1609344"/>
            <a:ext cx="405079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10912" y="16276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 cars in-radius 2.5 with [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(abs (heading - [heading]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 myself)) &gt; 60 and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 &gt; 0.15 ]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2221992"/>
            <a:ext cx="4251960" cy="1261872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846320" y="2221992"/>
            <a:ext cx="64008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956048" y="229514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956048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2295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check-intersection-zone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25694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Dans [-4,4]×[-4,4] : limite vitesse à 55%, gère les virages, cède la priorité.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56048" y="3026664"/>
            <a:ext cx="405079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010912" y="3044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speed min list speed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(max-speed * 0.55)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choice = 0 and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turn-lane-clear? left-h [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heading left-h ]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46320" y="3182112"/>
            <a:ext cx="416052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846320" y="3182112"/>
            <a:ext cx="64008" cy="1691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010912" y="3255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proactive-intersection-slowdown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10912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Ralentit préventivement selon la distance au centre du carrefour (formule proportionnelle).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4023360"/>
            <a:ext cx="41605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956048" y="40965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approach-cap max-speed *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(0.35 + (nearest-dist/6) * 0.45)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caution-factor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1 - (caution-level * 0.08)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Contrôle de Vitesse &amp; Suivi de Voie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120640" cy="2834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AE"/>
                </a:solidFill>
              </a:rPr>
              <a:t>adjust-speed-smart — Niveaux de freinage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4846320" cy="457200"/>
          </a:xfrm>
          <a:prstGeom prst="rect">
            <a:avLst/>
          </a:prstGeom>
          <a:solidFill>
            <a:srgbClr val="1B2A3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64008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CRITIQUE  (dist &lt; safety×0.4)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4996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speed - 0.6 × brake_mult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828800"/>
            <a:ext cx="4846320" cy="457200"/>
          </a:xfrm>
          <a:prstGeom prst="rect">
            <a:avLst/>
          </a:prstGeom>
          <a:solidFill>
            <a:srgbClr val="1B2A3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11480" y="1828800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18653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PROCHE    (dist &lt; safety×0.7)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0665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speed - 0.35 × brake_mult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4846320" cy="457200"/>
          </a:xfrm>
          <a:prstGeom prst="rect">
            <a:avLst/>
          </a:prstGeom>
          <a:solidFill>
            <a:srgbClr val="1B2A3E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2395728"/>
            <a:ext cx="64008" cy="4572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4323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AJUSTÉE   (dist &lt; safety)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63347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speed ≤ ahead_speed + 0.02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962656"/>
            <a:ext cx="4846320" cy="457200"/>
          </a:xfrm>
          <a:prstGeom prst="rect">
            <a:avLst/>
          </a:prstGeom>
          <a:solidFill>
            <a:srgbClr val="1B2A3E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11480" y="2962656"/>
            <a:ext cx="64008" cy="457200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" y="29992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LIBRE     (dist &gt; safety)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accelerate-if-safe()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5120640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64008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Système caution-level (0 → 3)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Augmente lors d'un near-miss (rayon 1.0). Réduit l'accélération et l'approach-cap. Diminue de 1 tous les 30 ticks automatiquement.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77840" y="822960"/>
            <a:ext cx="34290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687568" y="896112"/>
            <a:ext cx="32461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detect-car-ahead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car-ahead nobody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look-distance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 list (safety-distance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+ 2.0) 4.8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candidates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 cars in-cone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look-distance 24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with [not crashed]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any? candidates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car-ahead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min-one-of candidates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[distance myself]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77840" y="2423160"/>
            <a:ext cx="342900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687568" y="2496312"/>
            <a:ext cx="32461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align-with-lane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 turning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still-in-intersection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 set heading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lane-heading-of patch-here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 turning false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heading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lane-heading-of patch-here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3749040"/>
            <a:ext cx="3429000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577840" y="3749040"/>
            <a:ext cx="64008" cy="1188720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76072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accelerate-if-safe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41605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Accélère uniquement si aucun feu rouge/jaune n'est détecté en cône (angle 20°). Taux réduit selon caution-level.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Collisions, Incendies &amp; Mécanismes de Sécurité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2743200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2743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Cascade de collision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234440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Rayon 0.7 → collision détectée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61848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crashed = true  |  color = black  |  speed =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002536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38912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20025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Voitures adjacentes aussi crashées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386584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" y="2386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sprout-fires 3 sur le patch courant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2770632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38912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crash-timer ++ chaque tick (go)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3154680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3891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Respawn après 200 ticks → patch libre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60520" cy="132588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64008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Cycle de vie des fires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" y="4059936"/>
            <a:ext cx="38862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48640" y="413308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color one-of [orange red yellow]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size size + random-float 0.05 - 0.025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fire-age &gt; 30  [ set size size - 0.03 ]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fire-age &gt; 150 [ die 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804672"/>
            <a:ext cx="4251960" cy="135331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17720" y="804672"/>
            <a:ext cx="64008" cy="135331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00600" y="8778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check-near-miss (rayon 1.0)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11887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Si une voiture est très proche : freinage d'urgence, caution-level + 1 (max 3). Prévient la collision imminente.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267712"/>
            <a:ext cx="4251960" cy="1353312"/>
          </a:xfrm>
          <a:prstGeom prst="rect">
            <a:avLst/>
          </a:prstGeom>
          <a:solidFill>
            <a:srgbClr val="16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17720" y="2267712"/>
            <a:ext cx="64008" cy="13533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00600" y="23408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check-collision-safe (rayon 1.2)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26517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Zone tampon : si voiture proche à vitesse &gt; 0.05 → speed = 0. Évite l'impact sans déclencher crash.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17720" y="3730752"/>
            <a:ext cx="4251960" cy="1261872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617720" y="3730752"/>
            <a:ext cx="64008" cy="1261872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800600" y="3803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anti-deadlock-resolve (stuck-timer &gt; 40)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11480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Si bloqué 40+ ticks sans feu rouge visible : cherche patch libre en rayon 5, se réoriente, redémarre à speed 0.2.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Métriques Temps Réel &amp; Export CSV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23774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438912"/>
          </a:xfrm>
          <a:prstGeom prst="rect">
            <a:avLst/>
          </a:prstGeom>
          <a:solidFill>
            <a:srgbClr val="00C6AE">
              <a:alpha val="7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Traffic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25880"/>
            <a:ext cx="64008" cy="45720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21208" y="13167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mean-speed → vitesse moyenne des voitures actives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965960"/>
            <a:ext cx="64008" cy="45720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21208" y="195681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num-stopped-cars → voitures à speed &lt; 0.1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804672"/>
            <a:ext cx="2743200" cy="2377440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18688" y="804672"/>
            <a:ext cx="2743200" cy="438912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10128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Safety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28416" y="1325880"/>
            <a:ext cx="64008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65576" y="13167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num-crashes → count cars with [crashed]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28416" y="1965960"/>
            <a:ext cx="64008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65576" y="195681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collision-rate → (crashes/total) × 100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804672"/>
            <a:ext cx="2743200" cy="237744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163056" y="804672"/>
            <a:ext cx="2743200" cy="438912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54496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Travel Quality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2784" y="1325880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9944" y="13167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mean-wait-time → wait-time moyen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1965960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9944" y="195681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mean-trip-time → ticks depuis trip-start-tick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72784" y="2606040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9944" y="259689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cars-stuck-in-intersection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641080" cy="98755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64008" cy="9875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34107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AE"/>
                </a:solidFill>
              </a:rPr>
              <a:t>Export CSV — trafic_stats.csv  (chaque tick)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8912" y="3703320"/>
            <a:ext cx="836676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" y="3776472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, num_cars , max_speed_limit , min_safety_distance , mean_speed , num_stopped , num_crashes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434840"/>
            <a:ext cx="8641080" cy="594360"/>
          </a:xfrm>
          <a:prstGeom prst="rect">
            <a:avLst/>
          </a:prstGeom>
          <a:solidFill>
            <a:srgbClr val="16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64008" cy="5943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</a:rPr>
              <a:t>Reporters NetLogo utilisés 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449884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[speed] of cars  ·  count cars with [crashed]  ·  mean [wait-time] of cars  ·  mean [ticks - trip-start-tick]  ·  count cars with [abs xcor ≤ 4 and speed &lt; 0.1]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Paramètres Configurables &amp; Scénarios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1704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1704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38912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num-cars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188720"/>
            <a:ext cx="822960" cy="201168"/>
          </a:xfrm>
          <a:prstGeom prst="rect">
            <a:avLst/>
          </a:prstGeom>
          <a:solidFill>
            <a:srgbClr val="00C6AE">
              <a:alpha val="70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8912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Plage : 1 – 50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→ Volume de trafic global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30552"/>
            <a:ext cx="4160520" cy="11704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64008" cy="11704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max-speed-limit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514600"/>
            <a:ext cx="822960" cy="201168"/>
          </a:xfrm>
          <a:prstGeom prst="rect">
            <a:avLst/>
          </a:prstGeom>
          <a:solidFill>
            <a:srgbClr val="00C6AE">
              <a:alpha val="70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38912" y="2514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Plage : 0.1 – 2.0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7889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→ Vitesse max des voitures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4160520" cy="117043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64008" cy="117043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38912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min-safety-distance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3840480"/>
            <a:ext cx="822960" cy="201168"/>
          </a:xfrm>
          <a:prstGeom prst="rect">
            <a:avLst/>
          </a:prstGeom>
          <a:solidFill>
            <a:srgbClr val="00C6AE">
              <a:alpha val="70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38912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Plage : 0.5 – 5.0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4114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→ Distance de sécurité minimale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804672"/>
            <a:ext cx="4160520" cy="1170432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64008" cy="1170432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73752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green-duration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73752" y="1188720"/>
            <a:ext cx="822960" cy="201168"/>
          </a:xfrm>
          <a:prstGeom prst="rect">
            <a:avLst/>
          </a:prstGeom>
          <a:solidFill>
            <a:srgbClr val="2EC278">
              <a:alpha val="70000"/>
            </a:srgbClr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73752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Plage : 60 ticks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73752" y="1463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→ Durée phase verte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130552"/>
            <a:ext cx="4160520" cy="1170432"/>
          </a:xfrm>
          <a:prstGeom prst="rect">
            <a:avLst/>
          </a:prstGeom>
          <a:solidFill>
            <a:srgbClr val="162236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09160" y="2130552"/>
            <a:ext cx="64008" cy="1170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73752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yellow-duration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73752" y="2514600"/>
            <a:ext cx="822960" cy="201168"/>
          </a:xfrm>
          <a:prstGeom prst="rect">
            <a:avLst/>
          </a:prstGeom>
          <a:solidFill>
            <a:srgbClr val="F5C518">
              <a:alpha val="70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73752" y="2514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Plage : 10 ticks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73752" y="27889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→ Durée phase jaune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456432"/>
            <a:ext cx="4160520" cy="1170432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09160" y="3456432"/>
            <a:ext cx="64008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73752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red-duration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73752" y="3840480"/>
            <a:ext cx="822960" cy="201168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73752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Plage : 60 ticks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73752" y="4114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→ Durée phase rouge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681728"/>
            <a:ext cx="8641080" cy="36576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74320" y="4681728"/>
            <a:ext cx="64008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5720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Scénarios suggérés 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651760" y="47274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Trafic dense (50 cars, speed 1.5)   ·   Sécurité max (10 cars, safety 4.0)   ·   Feux rapides (green=20, red=20)   ·   Urgence (1 voiture rouge)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Technologies &amp; Concepts MAS Mobilisés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92024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AE"/>
                </a:solidFill>
              </a:rPr>
              <a:t>🤖 Agents Autonomes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Chaque voiture = agent avec état propre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46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Décisions locales sans coordination centrale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85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Comportements émergents collectifs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804672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18688" y="804672"/>
            <a:ext cx="64008" cy="1920240"/>
          </a:xfrm>
          <a:prstGeom prst="rect">
            <a:avLst/>
          </a:prstGeom>
          <a:solidFill>
            <a:srgbClr val="2EC278"/>
          </a:solidFill>
          <a:ln w="12700">
            <a:solidFill>
              <a:srgbClr val="2EC2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55848" y="896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278"/>
                </a:solidFill>
              </a:rPr>
              <a:t>👁️ Perception (in-cone / in-radius)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307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in-cone: champ visuel (distance, angle)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55848" y="1746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in-radius: zone proximité omnidirectionnelle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5848" y="2185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Cône 24° pour suivi, 90° pour feux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804672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63056" y="804672"/>
            <a:ext cx="64008" cy="1920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00216" y="896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🧠 Architecture BDI simplifiée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307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Beliefs : speed, car-ahead, caution-level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0216" y="1746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Desires : avancer, éviter collision, respecter feux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0216" y="2185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Intentions : freiner, tourner, accélérer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2889504"/>
            <a:ext cx="64008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11480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⚡ Émergence &amp; Stigmergie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392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Embouteillages = comportement émergent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831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Feux = coordination indirecte (stigmergie)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Deadlocks = blocage distribué résolu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2889504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18688" y="2889504"/>
            <a:ext cx="64008" cy="19202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355848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🔄 Simulation à Temps Discret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3392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Chaque tick = 1 cycle de mise à jour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55848" y="3831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ask avec ordre aléatoire (fairness)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55848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CSV exporté chaque tick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2889504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163056" y="2889504"/>
            <a:ext cx="64008" cy="1920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300216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📊 Collecte de Données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0216" y="3392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Reporters NetLogo pour indicateurs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0216" y="3831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Plots intégrés en temps réel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0216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· Export CSV pour analyse externe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 Résultats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1353312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AE"/>
                </a:solidFill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types d'agents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82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cars / lights / fires / timerlabels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04672"/>
            <a:ext cx="2011680" cy="1353312"/>
          </a:xfrm>
          <a:prstGeom prst="rect">
            <a:avLst/>
          </a:prstGeom>
          <a:solidFill>
            <a:srgbClr val="16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450592" y="877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59B6"/>
                </a:solidFill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étapes 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1682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pipeline de décision par tick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804672"/>
            <a:ext cx="2011680" cy="1353312"/>
          </a:xfrm>
          <a:prstGeom prst="rect">
            <a:avLst/>
          </a:prstGeom>
          <a:solidFill>
            <a:srgbClr val="162236"/>
          </a:solidFill>
          <a:ln w="12700">
            <a:solidFill>
              <a:srgbClr val="2EC2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26864" y="877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278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26864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plots temps réel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682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Flow, Safety, Travel Quality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804672"/>
            <a:ext cx="2011680" cy="1353312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03136" y="877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</a:rPr>
              <a:t>200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03136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ticks respawn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682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récupération post-collision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114800" cy="2560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0C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64008" cy="2560320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AE"/>
                </a:solidFill>
              </a:rPr>
              <a:t>Apports pédagogiques MAS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164592" cy="164592"/>
          </a:xfrm>
          <a:prstGeom prst="ellipse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13232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Émergence : embouteillages, deadlocks spontanés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164592" cy="164592"/>
          </a:xfrm>
          <a:prstGeom prst="ellipse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13232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Interaction agent ↔ environnement (patches)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666744"/>
            <a:ext cx="164592" cy="164592"/>
          </a:xfrm>
          <a:prstGeom prst="ellipse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13232" y="3639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Coordination indirecte via feux (stigmergie)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105656"/>
            <a:ext cx="164592" cy="164592"/>
          </a:xfrm>
          <a:prstGeom prst="ellipse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13232" y="4078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Collecte &amp; analyse données multi-agents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544568"/>
            <a:ext cx="164592" cy="164592"/>
          </a:xfrm>
          <a:prstGeom prst="ellipse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13232" y="4517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Comportements hétérogènes (caution-level)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331720"/>
            <a:ext cx="4206240" cy="2560320"/>
          </a:xfrm>
          <a:prstGeom prst="rect">
            <a:avLst/>
          </a:prstGeom>
          <a:solidFill>
            <a:srgbClr val="16223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663440" y="2331720"/>
            <a:ext cx="64008" cy="2560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4632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Perspectives &amp; Améliorations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78892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102352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Feux adaptatifs basés sur densité détectée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322783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102352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Réseau multi-carrefours interconnectés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666744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102352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Véhicules autonomes (algorithmes pathfinding)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410565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102352" y="4078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ML pour optimiser cycles de signalisation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454456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102352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Piétons comme agents supplémentaires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6AE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914400" y="274320"/>
            <a:ext cx="4572000" cy="4572000"/>
          </a:xfrm>
          <a:prstGeom prst="ellipse">
            <a:avLst/>
          </a:prstGeom>
          <a:solidFill>
            <a:srgbClr val="112233">
              <a:alpha val="60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-365760" y="731520"/>
            <a:ext cx="3200400" cy="3200400"/>
          </a:xfrm>
          <a:prstGeom prst="ellipse">
            <a:avLst/>
          </a:prstGeom>
          <a:solidFill>
            <a:srgbClr val="00C6AE">
              <a:alpha val="12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Merci pour votre attention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1920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6AE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788920"/>
            <a:ext cx="1051560" cy="320040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NetLogo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2788920"/>
            <a:ext cx="1051560" cy="320040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29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788920"/>
            <a:ext cx="1051560" cy="320040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Agents 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2788920"/>
            <a:ext cx="1051560" cy="320040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715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Feux H/V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2788920"/>
            <a:ext cx="1051560" cy="320040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Collisions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01000" y="2788920"/>
            <a:ext cx="1051560" cy="320040"/>
          </a:xfrm>
          <a:prstGeom prst="rect">
            <a:avLst/>
          </a:prstGeom>
          <a:solidFill>
            <a:srgbClr val="00C6AE">
              <a:alpha val="2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001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CSV Export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291840"/>
            <a:ext cx="65836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395728" y="3364992"/>
            <a:ext cx="64008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→ setup-roads + setup-lights + setup-cars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  → update-lights + [ask cars: detect-ahead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make-intelligent-decision → move-forward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align-with-lane → check-collision]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update-fires + handle-emergency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export-stats-to-csv + tick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1825</Words>
  <Application>Microsoft Office PowerPoint</Application>
  <PresentationFormat>Affichage à l'écran (16:9)</PresentationFormat>
  <Paragraphs>357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de Trafic Urbain – Systèmes Multi-Agents</dc:title>
  <dc:subject>PptxGenJS Presentation</dc:subject>
  <dc:creator>PptxGenJS</dc:creator>
  <cp:lastModifiedBy>Maroine Rhatti</cp:lastModifiedBy>
  <cp:revision>1</cp:revision>
  <dcterms:created xsi:type="dcterms:W3CDTF">2026-04-12T17:28:09Z</dcterms:created>
  <dcterms:modified xsi:type="dcterms:W3CDTF">2026-04-12T17:59:33Z</dcterms:modified>
</cp:coreProperties>
</file>